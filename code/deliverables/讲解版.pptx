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227"/>
                </a:solidFill>
              </a:rPr>
              <a:t>CA-ISO 电价价差预测 · 工程讲解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>
                <a:solidFill>
                  <a:srgbClr val="FFFFFF"/>
                </a:solidFill>
              </a:rPr>
              <a:t>CA-ISO 电价价差预测</a:t>
            </a:r>
          </a:p>
          <a:p>
            <a:r>
              <a:rPr sz="2200">
                <a:solidFill>
                  <a:srgbClr val="BFD3E6"/>
                </a:solidFill>
              </a:rPr>
              <a:t>基于 LightGBM 的方向分类与单边套利策略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029200"/>
            <a:ext cx="2487168" cy="123444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09728" bIns="73152"/>
          <a:lstStyle/>
          <a:p>
            <a:pPr algn="ctr"/>
            <a:r>
              <a:rPr sz="3000" b="1">
                <a:solidFill>
                  <a:srgbClr val="C9A227"/>
                </a:solidFill>
              </a:rPr>
              <a:t>62.6%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整体方向准确率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21024" y="5029200"/>
            <a:ext cx="2487168" cy="123444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09728" bIns="73152"/>
          <a:lstStyle/>
          <a:p>
            <a:pPr algn="ctr"/>
            <a:r>
              <a:rPr sz="3000" b="1">
                <a:solidFill>
                  <a:srgbClr val="C9A227"/>
                </a:solidFill>
              </a:rPr>
              <a:t>67.8%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交易时段命中率 (test)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5029200"/>
            <a:ext cx="2487168" cy="123444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09728" bIns="73152"/>
          <a:lstStyle/>
          <a:p>
            <a:pPr algn="ctr"/>
            <a:r>
              <a:rPr sz="3000" b="1">
                <a:solidFill>
                  <a:srgbClr val="C9A227"/>
                </a:solidFill>
              </a:rPr>
              <a:t>+1744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test 模拟套利收益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34272" y="5029200"/>
            <a:ext cx="2487168" cy="123444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09728" bIns="73152"/>
          <a:lstStyle/>
          <a:p>
            <a:pPr algn="ctr"/>
            <a:r>
              <a:rPr sz="3000" b="1">
                <a:solidFill>
                  <a:srgbClr val="C9A227"/>
                </a:solidFill>
              </a:rPr>
              <a:t>109.1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spread MAE（基线 129.0）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FB8D0"/>
                </a:solidFill>
              </a:rPr>
              <a:t>2026-08-07 ｜ 数据对齐 → 特征工程 → 方向分类建模 → 业务评估 → Flask 网页交付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79"/>
                </a:solidFill>
              </a:rPr>
              <a:t>业务背景：CA-ISO 价差套利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8585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CA-ISO 电价价差预测 · 讲解版（2026-08-07）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</a:rPr>
              <a:t>•  加州电力市场两阶段定价：日前市场 DA（T-1 撮合）→ 实时市场 RTPD（T 结算），价差 = DA − RTPD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</a:rPr>
              <a:t>•  套利动作：T-1 日在日前市场买卖 1 度电，T 日在实时市场反向平仓，赚取价差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1F4E79"/>
                </a:solidFill>
              </a:rPr>
              <a:t>•  三种信号对应的动作：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</a:rPr>
              <a:t>–  价差为正（DA 更高）→ 日前卖、实时买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</a:rPr>
              <a:t>–  价差为负（RTPD 更高）→ 日前买、实时卖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333333"/>
                </a:solidFill>
              </a:rPr>
              <a:t>–  把握不足 → 观望（hold）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1F4E79"/>
                </a:solidFill>
              </a:rPr>
              <a:t>•  项目目标：预测次日（D+1）各节点、各小时价差方向，据此给出买卖建议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</a:rPr>
              <a:t>•  交付：本地 Flask 网页，输入节点 + 日期 → 24h 价差/价格曲线 + 买卖建议 + 回测对比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79"/>
                </a:solidFill>
              </a:rPr>
              <a:t>数据概况：五个数据源 + 对齐产物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8585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CA-ISO 电价价差预测 · 讲解版（2026-08-07）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1115568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3840480"/>
                <a:gridCol w="1828800"/>
                <a:gridCol w="356616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数据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时间范围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说明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价格数据/*.xlsx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3 节点 DA / RTPD / 价差（$/MWh，逐小时）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2024-01 ~ 2026-08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目标变量来源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load_CA_ISO_TAC_2DA.csv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官方日前负荷预测（系统级）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2025-10 ~ 2026-08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D+1 可直接使用的“未来已知”特征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load_CA_ISO_TAC_ACTUAL.csv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实际负荷（系统级）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2025-04 ~ 2026-08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仅作历史滞后特征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zone_weather_hourly.csv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分区天气：温度 / 太阳辐射 / 100m 风速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2025-04 ~ 2026-08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视为预报值，D+1 可直接使用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节点位置.xlsx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节点 → 区域映射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SNLNDRO / CONTROLX → ZP26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48920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</a:rPr>
              <a:t>•  建模节点：SNLNDRO、CONTROLX（ZP26，已建模）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•  ELCAJNGT（SP15）：数据仅 2026-03 起、训练窗口 0 样本，未建模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•  对齐产物：master.csv（45780 行长表）→ features.parquet（特征矩阵）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79"/>
                </a:solidFill>
              </a:rPr>
              <a:t>预测方法（1）：任务定义与防泄漏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8585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CA-ISO 电价价差预测 · 讲解版（2026-08-07）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50" b="0">
                <a:solidFill>
                  <a:srgbClr val="333333"/>
                </a:solidFill>
              </a:rPr>
              <a:t>•  任务：每个样本 = 决策日 D 的某个小时，目标 = 预测 D+1 同小时的价差方向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50" b="1">
                <a:solidFill>
                  <a:srgbClr val="1F4E79"/>
                </a:solidFill>
              </a:rPr>
              <a:t>•  防泄漏红线：决策时点 D 日 13:00 前，D 日当天的实际价格/负荷不可见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450" b="0">
                <a:solidFill>
                  <a:srgbClr val="333333"/>
                </a:solidFill>
              </a:rPr>
              <a:t>–  滞后特征只用 D-1 及更早；D+1 的 2DA 负荷与天气是预报值、此时已可得，可作特征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50" b="1">
                <a:solidFill>
                  <a:srgbClr val="1F4E79"/>
                </a:solidFill>
              </a:rPr>
              <a:t>•  时间切分（按决策日，不随机）：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450" b="0">
                <a:solidFill>
                  <a:srgbClr val="333333"/>
                </a:solidFill>
              </a:rPr>
              <a:t>–  train 2025-04~12（13,700 样本）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450" b="0">
                <a:solidFill>
                  <a:srgbClr val="333333"/>
                </a:solidFill>
              </a:rPr>
              <a:t>–  val 2026-01~05（7,550 样本）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450" b="0">
                <a:solidFill>
                  <a:srgbClr val="333333"/>
                </a:solidFill>
              </a:rPr>
              <a:t>–  test 2026-06~08（3,300 样本）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50" b="0">
                <a:solidFill>
                  <a:srgbClr val="333333"/>
                </a:solidFill>
              </a:rPr>
              <a:t>•  特征工程：共 34 个特征，分五类 —— 历史滞后 / 滚动统计 / 未来已知 / 日历 / 节点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79"/>
                </a:solidFill>
              </a:rPr>
              <a:t>预测方法（2）：方向分类器 + 单边决策规则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8585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CA-ISO 电价价差预测 · 讲解版（2026-08-07）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50" b="1">
                <a:solidFill>
                  <a:srgbClr val="1F4E79"/>
                </a:solidFill>
              </a:rPr>
              <a:t>•  决策核心：LightGBM 方向分类器，目标 y = (价差 &gt; 0)，直接输出 P(价差 &gt; 0)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50" b="0">
                <a:solidFill>
                  <a:srgbClr val="333333"/>
                </a:solidFill>
              </a:rPr>
              <a:t>•  训练用 val 早停，缺省特征由 LightGBM 原生处理 NaN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50" b="0">
                <a:solidFill>
                  <a:srgbClr val="333333"/>
                </a:solidFill>
              </a:rPr>
              <a:t>•  展示辅助：分位数回归（q10 / q50 / q90）画价差曲线与置信带，DA/RTPD q50 画价格曲线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50" b="1">
                <a:solidFill>
                  <a:srgbClr val="1F4E79"/>
                </a:solidFill>
              </a:rPr>
              <a:t>•  实测方向信号不对称：卖方向命中 71% vs 买方向 58% —— 负价差方向错单是亏损主因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50" b="1">
                <a:solidFill>
                  <a:srgbClr val="1F4E79"/>
                </a:solidFill>
              </a:rPr>
              <a:t>•  单边决策规则（经回测校准）：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4160520"/>
            <a:ext cx="9692640" cy="12344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46304"/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1F4E79"/>
                </a:solidFill>
              </a:rPr>
              <a:t>P(价差 &gt; 0) &gt; 0.5   且   近 7 日价差波动 std7 ≤ 120   →   “卖”（日前卖、实时买）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333333"/>
                </a:solidFill>
              </a:rPr>
              <a:t>否则  →  “观望”（hold）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79"/>
                </a:solidFill>
              </a:rPr>
              <a:t>各节点结果：SNLNDRO 是策略主力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8585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CA-ISO 电价价差预测 · 讲解版（2026-08-07）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98448"/>
          <a:ext cx="11155677" cy="3236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9400"/>
                <a:gridCol w="929639"/>
                <a:gridCol w="1755986"/>
                <a:gridCol w="1652693"/>
                <a:gridCol w="1755986"/>
                <a:gridCol w="1962573"/>
                <a:gridCol w="154940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节点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时段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交易数(占比)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交易命中率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单边策略收益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实际正价差占比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价差幅度 |实际|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47548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SNLNDRO</a:t>
                      </a:r>
                      <a:r>
                        <a:rPr sz="1300" b="1">
                          <a:solidFill>
                            <a:srgbClr val="1F4E79"/>
                          </a:solidFill>
                        </a:rPr>
                        <a:t>SNLNDRO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val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1931 (53%)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69.9%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+5483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66.6%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9.9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test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958 (61%)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68.0%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+1808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62.6%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7.8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47548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CONTROLX</a:t>
                      </a:r>
                      <a:r>
                        <a:rPr sz="1300" b="1">
                          <a:solidFill>
                            <a:srgbClr val="1F4E79"/>
                          </a:solidFill>
                        </a:rPr>
                        <a:t>CONTROLX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val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19 (1%)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10.5%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-409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26.3%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106.6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test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2 (0%)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-64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33.9%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213.8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47548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整体</a:t>
                      </a:r>
                      <a:r>
                        <a:rPr sz="1300" b="1">
                          <a:solidFill>
                            <a:srgbClr val="1F4E79"/>
                          </a:solidFill>
                        </a:rPr>
                        <a:t>整体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val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1950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69.3%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+5074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test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960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67.8%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+1744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074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1F4E79"/>
                </a:solidFill>
              </a:rPr>
              <a:t>•  SNLNDRO：价差系统性偏正（约 2/3 时间 DA&gt;RTPD），预测正价差命中 68–70%，幅度小（±10）风险可控 → 稳定盈利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</a:rPr>
              <a:t>•  CONTROLX：实际正价差仅占 26–34%，模型“预测正价差”信号弱（命中 10%），单边规则下几乎不触发交易 → 主动避开大幅度节点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</a:rPr>
              <a:t>•  ELCAJNGT 未建模（数据不足）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79"/>
                </a:solidFill>
              </a:rPr>
              <a:t>影响因子：DA 价滞后结构主导方向信号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8585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CA-ISO 电价价差预测 · 讲解版（2026-08-07）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</a:rPr>
              <a:t>7</a:t>
            </a:r>
          </a:p>
        </p:txBody>
      </p:sp>
      <p:pic>
        <p:nvPicPr>
          <p:cNvPr id="7" name="Picture 6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9699077376000" cy="33535688186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6692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•  历史价格滞后共占 72.8%（其中 DA 价滞后约 60%）—— DA 价是 T-1 已确定的撮合价，对次日价差方向最具预示力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</a:rPr>
              <a:t>•  其次为 D+1 负荷与天气预报（18.3%）、日历（8.2%）、滚动统计（6.9%）、节点（0.7%）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79"/>
                </a:solidFill>
              </a:rPr>
              <a:t>基线对比：单边策略显著优于全交易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8585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CA-ISO 电价价差预测 · 讲解版（2026-08-07）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</a:rPr>
              <a:t>8</a:t>
            </a:r>
          </a:p>
        </p:txBody>
      </p:sp>
      <p:pic>
        <p:nvPicPr>
          <p:cNvPr id="7" name="Picture 6" descr="baselin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9699077376000" cy="34520764730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486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1F4E79"/>
                </a:solidFill>
              </a:rPr>
              <a:t>•  单边策略 +1744 vs 全交易 -129,655：规避了约 13 万美元的大亏（hold 单笔最多避开 -2,251）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50" b="0">
                <a:solidFill>
                  <a:srgbClr val="333333"/>
                </a:solidFill>
              </a:rPr>
              <a:t>•  反向 +129,655 为“全交易取负”的镜像上界，非可执行策略；不交易 0 为下限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1F4E79"/>
                </a:solidFill>
              </a:rPr>
              <a:t>•  数值基线（spread 预测）：naive（D-1 同小时直推）MAE = 129.0 → 本模型 MAE = 109.1（提升 15%）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79"/>
                </a:solidFill>
              </a:rPr>
              <a:t>套利收益曲线：test 累计 +1744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8585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CA-ISO 电价价差预测 · 讲解版（2026-08-07）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</a:rPr>
              <a:t>9</a:t>
            </a:r>
          </a:p>
        </p:txBody>
      </p:sp>
      <p:pic>
        <p:nvPicPr>
          <p:cNvPr id="7" name="Picture 6" descr="arb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417320"/>
            <a:ext cx="6613005639272" cy="363715310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1F4E79"/>
                </a:solidFill>
              </a:rPr>
              <a:t>•  test（2026-06 ~ 08，65 天）模拟套利累计 +1744，日均约 +27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50" b="0">
                <a:solidFill>
                  <a:srgbClr val="333333"/>
                </a:solidFill>
              </a:rPr>
              <a:t>•  最大单笔亏损 -162（单边规则 + std7 风控下亏损可控）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50" b="0">
                <a:solidFill>
                  <a:srgbClr val="333333"/>
                </a:solidFill>
              </a:rPr>
              <a:t>•  val 同时段为正：+5074（2026 H1）—— 双时段验证，避免只在测试集上调参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79"/>
                </a:solidFill>
              </a:rPr>
              <a:t>评测方法：四层指标，业务优先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8585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CA-ISO 电价价差预测 · 讲解版（2026-08-07）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50" b="1">
                <a:solidFill>
                  <a:srgbClr val="1F4E79"/>
                </a:solidFill>
              </a:rPr>
              <a:t>•  ① 方向准确率（核心业务指标）：整体 62.6%；交易时段命中率 67.8%（只看实际下单样本，更贴业务）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50" b="0">
                <a:solidFill>
                  <a:srgbClr val="333333"/>
                </a:solidFill>
              </a:rPr>
              <a:t>•  ② 数值精度（参考）：spread MAE 109.1 vs naive 129.0；DA/RTPD MAE、RMSE —— 价差方向才是业务目标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50" b="0">
                <a:solidFill>
                  <a:srgbClr val="333333"/>
                </a:solidFill>
              </a:rPr>
              <a:t>•  ③ 决策质量：卖 31% / 观望 69%；每类决策平均收益；hold 是否避开了大额亏损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50" b="1">
                <a:solidFill>
                  <a:srgbClr val="1F4E79"/>
                </a:solidFill>
              </a:rPr>
              <a:t>•  ④ 模拟套利（业务落地）：按预测方向 DA 买卖、RTPD 反向平仓、按真实价差结算 → 总收益、日均、命中率、最大单笔亏损、累计曲线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50" b="1">
                <a:solidFill>
                  <a:srgbClr val="1F4E79"/>
                </a:solidFill>
              </a:rPr>
              <a:t>•  ⑤ 稳健性：val（2026 H1）+5074 与 test（2026 H2）+1744 双时段均正收益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79"/>
                </a:solidFill>
              </a:rPr>
              <a:t>增强方向：需外部数据（按优先级）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8585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CA-ISO 电价价差预测 · 讲解版（2026-08-07）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11155680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5212080"/>
                <a:gridCol w="347472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外部数据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为什么有用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当前缺失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天然气价格（Henry Hub / 加州气价）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燃气机组是加州边际定价者，电价 ≈ 气价 × 热耗率；DA/RTPD 用不同时点气价 → 直接是价差方向的供给侧信号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历史价滞后只间接含过去气价，无 D+1 气价预测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CA-ISO 光伏/风电出力预测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可再生能源出力直接影响 RTPD 与价差（鸭子曲线核心驱动）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ssrd 只是代理，非实际出力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负荷偏差（实时 vs 日前预测）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日内偏差是 RTPD 波动的直接诱因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更多节点/区域价格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阻塞与区域价差预示方向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仅 2 节点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滚动 / 更长历史训练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适应市场漂移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</a:rPr>
                        <a:t>已扩至 9 个月，仍可加滚动窗口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79"/>
                </a:solidFill>
              </a:rPr>
              <a:t>已知局限（如实说明）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8585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CA-ISO 电价价差预测 · 讲解版（2026-08-07）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50" b="1">
                <a:solidFill>
                  <a:srgbClr val="1F4E79"/>
                </a:solidFill>
              </a:rPr>
              <a:t>•  套利利润偏薄：val +5074 / test +1744，日均约 27–60 —— 价差本身难预测，62.6% 方向准确率带来的收益空间有限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50" b="0">
                <a:solidFill>
                  <a:srgbClr val="333333"/>
                </a:solidFill>
              </a:rPr>
              <a:t>•  单边牺牲双边机会：只做“卖”（正价差）方向，负价差方向的套利机会被放弃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50" b="0">
                <a:solidFill>
                  <a:srgbClr val="333333"/>
                </a:solidFill>
              </a:rPr>
              <a:t>•  交易集中在 SNLNDRO：CONTROLX 在单边规则下几乎不交易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50" b="0">
                <a:solidFill>
                  <a:srgbClr val="333333"/>
                </a:solidFill>
              </a:rPr>
              <a:t>•  跨时段仍有漂移：val / test 收益均为正但绝对值不同，市场状态变化仍影响表现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50" b="0">
                <a:solidFill>
                  <a:srgbClr val="333333"/>
                </a:solidFill>
              </a:rPr>
              <a:t>•  决策阈值基于回测校准（prob &gt; 0.5、std7 ≤ 120），实盘需再验证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50" b="0">
                <a:solidFill>
                  <a:srgbClr val="333333"/>
                </a:solidFill>
              </a:rPr>
              <a:t>•  ELCAJNGT 未训练；天气按“预报值”假设（若用实测需改滞后特征）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9476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9A227"/>
                </a:solidFill>
              </a:rPr>
              <a:t>小结</a:t>
            </a:r>
          </a:p>
          <a:p>
            <a:r>
              <a:rPr sz="3600" b="1">
                <a:solidFill>
                  <a:srgbClr val="FFFFFF"/>
                </a:solidFill>
              </a:rPr>
              <a:t>已交付一套可运行、可验证的价差方向预测与单边套利系统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700" b="1">
                <a:solidFill>
                  <a:srgbClr val="1F4E79"/>
                </a:solidFill>
              </a:rPr>
              <a:t>•  数据 → 特征 → 模型 → 业务评估 → 网页交付，全流程闭环；防泄漏严格、按决策日切分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700" b="1">
                <a:solidFill>
                  <a:srgbClr val="1F4E79"/>
                </a:solidFill>
              </a:rPr>
              <a:t>•  方向准确率 62.6%（交易时段 67.8%），模拟套利 val +5074 / test +1744，收益为正、风险可控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700" b="0">
                <a:solidFill>
                  <a:srgbClr val="333333"/>
                </a:solidFill>
              </a:rPr>
              <a:t>•  下一步：接入气价 / 新能源出力预测等外部数据，扩展节点与滚动训练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709160"/>
            <a:ext cx="10332720" cy="137160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/>
            <a:r>
              <a:rPr sz="1600">
                <a:solidFill>
                  <a:srgbClr val="FFFFFF"/>
                </a:solidFill>
              </a:rPr>
              <a:t>联系人：＿＿＿＿＿＿＿　｜　邮箱：＿＿＿＿＿@＿＿＿</a:t>
            </a:r>
          </a:p>
          <a:p>
            <a:r>
              <a:rPr sz="1400">
                <a:solidFill>
                  <a:srgbClr val="C9A227"/>
                </a:solidFill>
              </a:rPr>
              <a:t>谢谢观看 · 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